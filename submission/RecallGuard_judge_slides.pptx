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D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00" b="1">
                <a:solidFill>
                  <a:srgbClr val="6FD0C2"/>
                </a:solidFill>
                <a:latin typeface="Aptos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6583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One workflow owns every consequential step.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89888"/>
            <a:ext cx="10789920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>
                <a:solidFill>
                  <a:srgbClr val="C3D2D8"/>
                </a:solidFill>
                <a:latin typeface="Aptos"/>
              </a:rPr>
              <a:t>Real recall evidence in. Human approval before action. Backend events prove what happened.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331720"/>
            <a:ext cx="1572768" cy="1051560"/>
          </a:xfrm>
          <a:prstGeom prst="roundRect">
            <a:avLst>
              <a:gd name="adj" fmla="val 8000"/>
            </a:avLst>
          </a:prstGeom>
          <a:solidFill>
            <a:srgbClr val="243A4B"/>
          </a:solidFill>
          <a:ln w="12700">
            <a:solidFill>
              <a:srgbClr val="435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423160"/>
            <a:ext cx="1389888" cy="2286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A8CFCF"/>
                </a:solidFill>
                <a:latin typeface="Aptos"/>
              </a:rPr>
              <a:t>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679191"/>
            <a:ext cx="1389888" cy="6583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Insignia
air fryer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78608" y="2331720"/>
            <a:ext cx="1664208" cy="1051560"/>
          </a:xfrm>
          <a:prstGeom prst="roundRect">
            <a:avLst>
              <a:gd name="adj" fmla="val 8000"/>
            </a:avLst>
          </a:prstGeom>
          <a:solidFill>
            <a:srgbClr val="243A4B"/>
          </a:solidFill>
          <a:ln w="12700">
            <a:solidFill>
              <a:srgbClr val="435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70048" y="2423160"/>
            <a:ext cx="1481328" cy="2286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A8CFCF"/>
                </a:solidFill>
                <a:latin typeface="Aptos"/>
              </a:rPr>
              <a:t>RECALL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70048" y="2679191"/>
            <a:ext cx="1481328" cy="6583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Live CPSC
#24159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18304" y="2148840"/>
            <a:ext cx="2011680" cy="1417320"/>
          </a:xfrm>
          <a:prstGeom prst="roundRect">
            <a:avLst>
              <a:gd name="adj" fmla="val 8000"/>
            </a:avLst>
          </a:prstGeom>
          <a:solidFill>
            <a:srgbClr val="136F6C"/>
          </a:solidFill>
          <a:ln w="12700">
            <a:solidFill>
              <a:srgbClr val="435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9744" y="2240280"/>
            <a:ext cx="1828800" cy="2286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A8CFCF"/>
                </a:solidFill>
                <a:latin typeface="Aptos"/>
              </a:rPr>
              <a:t>DETERMINISTIC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9744" y="2496312"/>
            <a:ext cx="1828800" cy="10241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Match · evidence
stand-down · state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05472" y="2331720"/>
            <a:ext cx="1664208" cy="1051560"/>
          </a:xfrm>
          <a:prstGeom prst="roundRect">
            <a:avLst>
              <a:gd name="adj" fmla="val 8000"/>
            </a:avLst>
          </a:prstGeom>
          <a:solidFill>
            <a:srgbClr val="243A4B"/>
          </a:solidFill>
          <a:ln w="12700">
            <a:solidFill>
              <a:srgbClr val="435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96912" y="2423160"/>
            <a:ext cx="1481328" cy="2286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A8CFCF"/>
                </a:solidFill>
                <a:latin typeface="Aptos"/>
              </a:rPr>
              <a:t>PERMISSION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6912" y="2679191"/>
            <a:ext cx="1481328" cy="6583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Exact action
approval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08592" y="2331720"/>
            <a:ext cx="1389888" cy="1051560"/>
          </a:xfrm>
          <a:prstGeom prst="roundRect">
            <a:avLst>
              <a:gd name="adj" fmla="val 8000"/>
            </a:avLst>
          </a:prstGeom>
          <a:solidFill>
            <a:srgbClr val="634725"/>
          </a:solidFill>
          <a:ln w="12700">
            <a:solidFill>
              <a:srgbClr val="435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00032" y="2423160"/>
            <a:ext cx="1207008" cy="2286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A8CFCF"/>
                </a:solidFill>
                <a:latin typeface="Aptos"/>
              </a:rPr>
              <a:t>DEVICE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0032" y="2679191"/>
            <a:ext cx="1207008" cy="6583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Simulated
ON → OFF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08792" y="2331720"/>
            <a:ext cx="786384" cy="1051560"/>
          </a:xfrm>
          <a:prstGeom prst="roundRect">
            <a:avLst>
              <a:gd name="adj" fmla="val 8000"/>
            </a:avLst>
          </a:prstGeom>
          <a:solidFill>
            <a:srgbClr val="243A4B"/>
          </a:solidFill>
          <a:ln w="12700">
            <a:solidFill>
              <a:srgbClr val="435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000232" y="2423160"/>
            <a:ext cx="603503" cy="2286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A8CFCF"/>
                </a:solidFill>
                <a:latin typeface="Aptos"/>
              </a:rPr>
              <a:t>REMEDY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0232" y="2679191"/>
            <a:ext cx="603503" cy="6583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Track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139696" y="2852928"/>
            <a:ext cx="438912" cy="0"/>
          </a:xfrm>
          <a:prstGeom prst="line">
            <a:avLst/>
          </a:prstGeom>
          <a:ln w="25400">
            <a:solidFill>
              <a:srgbClr val="6F97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242816" y="2852928"/>
            <a:ext cx="475488" cy="0"/>
          </a:xfrm>
          <a:prstGeom prst="line">
            <a:avLst/>
          </a:prstGeom>
          <a:ln w="25400">
            <a:solidFill>
              <a:srgbClr val="6F97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729984" y="2852928"/>
            <a:ext cx="475488" cy="0"/>
          </a:xfrm>
          <a:prstGeom prst="line">
            <a:avLst/>
          </a:prstGeom>
          <a:ln w="25400">
            <a:solidFill>
              <a:srgbClr val="6F97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869680" y="2852928"/>
            <a:ext cx="438912" cy="0"/>
          </a:xfrm>
          <a:prstGeom prst="line">
            <a:avLst/>
          </a:prstGeom>
          <a:ln w="25400">
            <a:solidFill>
              <a:srgbClr val="6F97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698480" y="2852928"/>
            <a:ext cx="210312" cy="0"/>
          </a:xfrm>
          <a:prstGeom prst="line">
            <a:avLst/>
          </a:prstGeom>
          <a:ln w="25400">
            <a:solidFill>
              <a:srgbClr val="6F97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724144" y="3694176"/>
            <a:ext cx="0" cy="621792"/>
          </a:xfrm>
          <a:prstGeom prst="line">
            <a:avLst/>
          </a:prstGeom>
          <a:ln w="25400">
            <a:solidFill>
              <a:srgbClr val="1E9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2514600" y="4425696"/>
            <a:ext cx="6537960" cy="566928"/>
          </a:xfrm>
          <a:prstGeom prst="roundRect">
            <a:avLst>
              <a:gd name="adj" fmla="val 8000"/>
            </a:avLst>
          </a:prstGeom>
          <a:solidFill>
            <a:srgbClr val="193141"/>
          </a:solidFill>
          <a:ln w="12700">
            <a:solidFill>
              <a:srgbClr val="3D5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0" y="4553712"/>
            <a:ext cx="608076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300" b="1">
                <a:solidFill>
                  <a:srgbClr val="DAE8E8"/>
                </a:solidFill>
                <a:latin typeface="Aptos"/>
              </a:rPr>
              <a:t>FROZEN EVENT FEED    seq / from / to / at / payload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85216" y="4096512"/>
            <a:ext cx="1755648" cy="1252728"/>
          </a:xfrm>
          <a:prstGeom prst="roundRect">
            <a:avLst>
              <a:gd name="adj" fmla="val 8000"/>
            </a:avLst>
          </a:prstGeom>
          <a:solidFill>
            <a:srgbClr val="2B3042"/>
          </a:solidFill>
          <a:ln w="12700">
            <a:solidFill>
              <a:srgbClr val="6F5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4206240"/>
            <a:ext cx="1463040" cy="2011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CCB8EC"/>
                </a:solidFill>
                <a:latin typeface="Aptos"/>
              </a:rPr>
              <a:t>OPTIONAL BEDROCK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4462272"/>
            <a:ext cx="1426464" cy="7315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Explains curated facts
No workflow authority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340864" y="4709160"/>
            <a:ext cx="173736" cy="0"/>
          </a:xfrm>
          <a:prstGeom prst="line">
            <a:avLst/>
          </a:prstGeom>
          <a:ln w="25400">
            <a:solidFill>
              <a:srgbClr val="B197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308592" y="4370832"/>
            <a:ext cx="2377440" cy="6217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200" b="0">
                <a:solidFill>
                  <a:srgbClr val="C3D2D8"/>
                </a:solidFill>
                <a:latin typeface="Aptos"/>
              </a:rPr>
              <a:t>OFF is read back before remedy tracking begins.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5623560"/>
            <a:ext cx="1097280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500" b="1">
                <a:solidFill>
                  <a:srgbClr val="6FD0C2"/>
                </a:solidFill>
                <a:latin typeface="Aptos"/>
              </a:rPr>
              <a:t>Bedrock cannot set state, satisfy evidence, approve an action, or operate the device.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6108192"/>
            <a:ext cx="10972800" cy="182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900" b="0">
                <a:solidFill>
                  <a:srgbClr val="9DAEB7"/>
                </a:solidFill>
                <a:latin typeface="Aptos"/>
              </a:rPr>
              <a:t>Live Bedrock inference still requires an authorized AWS profile, region, and model access.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0352" y="6492240"/>
            <a:ext cx="7315200" cy="182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00" b="1">
                <a:solidFill>
                  <a:srgbClr val="B3C4CC"/>
                </a:solidFill>
                <a:latin typeface="Aptos"/>
              </a:rPr>
              <a:t>RECALLGUARD  /  Know enough. Then act.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18520" y="6492240"/>
            <a:ext cx="594360" cy="182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/>
            <a:r>
              <a:rPr sz="900" b="1">
                <a:solidFill>
                  <a:srgbClr val="B3C4CC"/>
                </a:solidFill>
                <a:latin typeface="Aptos"/>
              </a:rPr>
              <a:t>1 / 2</a:t>
            </a:r>
          </a:p>
        </p:txBody>
      </p:sp>
      <p:sp>
        <p:nvSpPr>
          <p:cNvPr id="45" name="Chevron 44"/>
          <p:cNvSpPr/>
          <p:nvPr/>
        </p:nvSpPr>
        <p:spPr>
          <a:xfrm>
            <a:off x="2459736" y="2752344"/>
            <a:ext cx="173736" cy="201168"/>
          </a:xfrm>
          <a:prstGeom prst="chevron">
            <a:avLst/>
          </a:prstGeom>
          <a:solidFill>
            <a:srgbClr val="6F97A2"/>
          </a:solidFill>
          <a:ln w="6350">
            <a:solidFill>
              <a:srgbClr val="6F97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hevron 45"/>
          <p:cNvSpPr/>
          <p:nvPr/>
        </p:nvSpPr>
        <p:spPr>
          <a:xfrm>
            <a:off x="4123944" y="2752344"/>
            <a:ext cx="173736" cy="201168"/>
          </a:xfrm>
          <a:prstGeom prst="chevron">
            <a:avLst/>
          </a:prstGeom>
          <a:solidFill>
            <a:srgbClr val="6F97A2"/>
          </a:solidFill>
          <a:ln w="6350">
            <a:solidFill>
              <a:srgbClr val="6F97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hevron 46"/>
          <p:cNvSpPr/>
          <p:nvPr/>
        </p:nvSpPr>
        <p:spPr>
          <a:xfrm>
            <a:off x="7086600" y="2752344"/>
            <a:ext cx="173736" cy="201168"/>
          </a:xfrm>
          <a:prstGeom prst="chevron">
            <a:avLst/>
          </a:prstGeom>
          <a:solidFill>
            <a:srgbClr val="6F97A2"/>
          </a:solidFill>
          <a:ln w="6350">
            <a:solidFill>
              <a:srgbClr val="6F97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hevron 47"/>
          <p:cNvSpPr/>
          <p:nvPr/>
        </p:nvSpPr>
        <p:spPr>
          <a:xfrm>
            <a:off x="9025128" y="2752344"/>
            <a:ext cx="173736" cy="201168"/>
          </a:xfrm>
          <a:prstGeom prst="chevron">
            <a:avLst/>
          </a:prstGeom>
          <a:solidFill>
            <a:srgbClr val="6F97A2"/>
          </a:solidFill>
          <a:ln w="6350">
            <a:solidFill>
              <a:srgbClr val="6F97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Chevron 48"/>
          <p:cNvSpPr/>
          <p:nvPr/>
        </p:nvSpPr>
        <p:spPr>
          <a:xfrm>
            <a:off x="10735056" y="2752344"/>
            <a:ext cx="173736" cy="201168"/>
          </a:xfrm>
          <a:prstGeom prst="chevron">
            <a:avLst/>
          </a:prstGeom>
          <a:solidFill>
            <a:srgbClr val="6F97A2"/>
          </a:solidFill>
          <a:ln w="6350">
            <a:solidFill>
              <a:srgbClr val="6F97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00" b="1">
                <a:solidFill>
                  <a:srgbClr val="136F6C"/>
                </a:solidFill>
                <a:latin typeface="Aptos"/>
              </a:rPr>
              <a:t>WHAT THE DEMO PROVES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6583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3000" b="1">
                <a:solidFill>
                  <a:srgbClr val="0E1D2F"/>
                </a:solidFill>
                <a:latin typeface="Aptos"/>
              </a:rPr>
              <a:t>Real evidence. Simulated hardware.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89888"/>
            <a:ext cx="10881360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>
                <a:solidFill>
                  <a:srgbClr val="5D6F7D"/>
                </a:solidFill>
                <a:latin typeface="Aptos"/>
              </a:rPr>
              <a:t>The boundary is explicit, and every consequential transition is visible.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148840"/>
            <a:ext cx="5349240" cy="3310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63640" y="2148840"/>
            <a:ext cx="5349240" cy="3310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DC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2148840"/>
            <a:ext cx="5349240" cy="548640"/>
          </a:xfrm>
          <a:prstGeom prst="roundRect">
            <a:avLst>
              <a:gd name="adj" fmla="val 8000"/>
            </a:avLst>
          </a:prstGeom>
          <a:solidFill>
            <a:srgbClr val="136F6C"/>
          </a:solidFill>
          <a:ln w="12700">
            <a:solidFill>
              <a:srgbClr val="136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63640" y="2148840"/>
            <a:ext cx="5349240" cy="548640"/>
          </a:xfrm>
          <a:prstGeom prst="roundRect">
            <a:avLst>
              <a:gd name="adj" fmla="val 8000"/>
            </a:avLst>
          </a:prstGeom>
          <a:solidFill>
            <a:srgbClr val="DE9236"/>
          </a:solidFill>
          <a:ln w="12700">
            <a:solidFill>
              <a:srgbClr val="DE9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258568"/>
            <a:ext cx="4572000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REAL IN THIS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6248" y="2258568"/>
            <a:ext cx="4572000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400" b="1">
                <a:solidFill>
                  <a:srgbClr val="0E1D2F"/>
                </a:solidFill>
                <a:latin typeface="Aptos"/>
              </a:rPr>
              <a:t>SIMULATED IN THIS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907792"/>
            <a:ext cx="329184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00" b="1">
                <a:solidFill>
                  <a:srgbClr val="136F6C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907792"/>
            <a:ext cx="4251960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400" b="0">
                <a:solidFill>
                  <a:srgbClr val="182735"/>
                </a:solidFill>
                <a:latin typeface="Aptos"/>
              </a:rPr>
              <a:t>Live CPSC recall lookup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2907792"/>
            <a:ext cx="329184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00" b="1">
                <a:solidFill>
                  <a:srgbClr val="DE9236"/>
                </a:solidFill>
                <a:latin typeface="Apto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59168" y="2907792"/>
            <a:ext cx="4187952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400" b="1">
                <a:solidFill>
                  <a:srgbClr val="182735"/>
                </a:solidFill>
                <a:latin typeface="Aptos"/>
              </a:rPr>
              <a:t>Smart plug / device endpoint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355848"/>
            <a:ext cx="329184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00" b="1">
                <a:solidFill>
                  <a:srgbClr val="136F6C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" y="3355848"/>
            <a:ext cx="4251960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400" b="0">
                <a:solidFill>
                  <a:srgbClr val="182735"/>
                </a:solidFill>
                <a:latin typeface="Aptos"/>
              </a:rPr>
              <a:t>MCP Streamable HTTP server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3355848"/>
            <a:ext cx="329184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00" b="1">
                <a:solidFill>
                  <a:srgbClr val="DE9236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9168" y="3355848"/>
            <a:ext cx="4187952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400" b="0">
                <a:solidFill>
                  <a:srgbClr val="182735"/>
                </a:solidFill>
                <a:latin typeface="Aptos"/>
              </a:rPr>
              <a:t>ON → OFF command and reported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3803904"/>
            <a:ext cx="329184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00" b="1">
                <a:solidFill>
                  <a:srgbClr val="136F6C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3312" y="3803904"/>
            <a:ext cx="4251960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400" b="1">
                <a:solidFill>
                  <a:srgbClr val="182735"/>
                </a:solidFill>
                <a:latin typeface="Aptos"/>
              </a:rPr>
              <a:t>Deterministic workflow and approval gates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1968" y="3803904"/>
            <a:ext cx="329184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00" b="1">
                <a:solidFill>
                  <a:srgbClr val="DE9236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3803904"/>
            <a:ext cx="4187952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400" b="0">
                <a:solidFill>
                  <a:srgbClr val="182735"/>
                </a:solidFill>
                <a:latin typeface="Aptos"/>
              </a:rPr>
              <a:t>No physical hardware is connected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4251960"/>
            <a:ext cx="329184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00" b="1">
                <a:solidFill>
                  <a:srgbClr val="136F6C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4251960"/>
            <a:ext cx="4251960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400" b="0">
                <a:solidFill>
                  <a:srgbClr val="182735"/>
                </a:solidFill>
                <a:latin typeface="Aptos"/>
              </a:rPr>
              <a:t>Backend event feed and remedy tracking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1968" y="4251960"/>
            <a:ext cx="329184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00" b="1">
                <a:solidFill>
                  <a:srgbClr val="DE9236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59168" y="4251960"/>
            <a:ext cx="4187952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400" b="0">
                <a:solidFill>
                  <a:srgbClr val="182735"/>
                </a:solidFill>
                <a:latin typeface="Aptos"/>
              </a:rPr>
              <a:t>No claim is sent to a manufacturer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" y="4700016"/>
            <a:ext cx="329184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00" b="1">
                <a:solidFill>
                  <a:srgbClr val="136F6C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53312" y="4700016"/>
            <a:ext cx="4251960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400" b="0">
                <a:solidFill>
                  <a:srgbClr val="182735"/>
                </a:solidFill>
                <a:latin typeface="Aptos"/>
              </a:rPr>
              <a:t>Read-back of local device state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01968" y="4700016"/>
            <a:ext cx="329184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00" b="1">
                <a:solidFill>
                  <a:srgbClr val="DE9236"/>
                </a:solidFill>
                <a:latin typeface="Apto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59168" y="4700016"/>
            <a:ext cx="4187952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400" b="0">
                <a:solidFill>
                  <a:srgbClr val="182735"/>
                </a:solidFill>
                <a:latin typeface="Aptos"/>
              </a:rPr>
              <a:t>Bedrock explains only; never decides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5715000"/>
            <a:ext cx="11045952" cy="530352"/>
          </a:xfrm>
          <a:prstGeom prst="roundRect">
            <a:avLst>
              <a:gd name="adj" fmla="val 8000"/>
            </a:avLst>
          </a:prstGeom>
          <a:solidFill>
            <a:srgbClr val="0E1D2F"/>
          </a:solidFill>
          <a:ln w="12700">
            <a:solidFill>
              <a:srgbClr val="0E1D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815584"/>
            <a:ext cx="10607040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A likely match is not proof. If evidence is missing, RecallGuard stands down.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6492240"/>
            <a:ext cx="7315200" cy="182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00" b="1">
                <a:solidFill>
                  <a:srgbClr val="5D6F7D"/>
                </a:solidFill>
                <a:latin typeface="Aptos"/>
              </a:rPr>
              <a:t>RECALLGUARD  /  Know enough. Then act.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18520" y="6492240"/>
            <a:ext cx="594360" cy="182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/>
            <a:r>
              <a:rPr sz="900" b="1">
                <a:solidFill>
                  <a:srgbClr val="5D6F7D"/>
                </a:solidFill>
                <a:latin typeface="Aptos"/>
              </a:rPr>
              <a:t>2 /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RecallGuard — Judge Slides</dc:title>
  <dc:subject>Architecture and real-versus-simulated boundary</dc:subject>
  <dc:creator>RecallGuard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